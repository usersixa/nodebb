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711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NodeBB Test-Suite Projekt | Sajjad Ansari &amp; Amadin Six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463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Software Testing Projekt - NodeBB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8F0"/>
                </a:solidFill>
              </a:rPr>
              <a:t>Test-Suite Implementierung für eine moderne Forum-Software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</a:rPr>
              <a:t>Sajjad Ansari &amp; Amadin Six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</a:rPr>
              <a:t>Fach: Web Application Testing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Was ist NodeBB?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Überblick: </a:t>
            </a:r>
            <a:r>
              <a:rPr lang="en-US" sz="2000" dirty="0">
                <a:solidFill>
                  <a:srgbClr val="334155"/>
                </a:solidFill>
              </a:rPr>
              <a:t>Eine öffentliche, serverseitige Open-Source Webanwendung für Foren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Tech-Stack: </a:t>
            </a:r>
            <a:r>
              <a:rPr lang="en-US" sz="2000" dirty="0">
                <a:solidFill>
                  <a:srgbClr val="334155"/>
                </a:solidFill>
              </a:rPr>
              <a:t>Basiert auf Node.js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Datenbanken: </a:t>
            </a:r>
            <a:r>
              <a:rPr lang="en-US" sz="2000" dirty="0">
                <a:solidFill>
                  <a:srgbClr val="334155"/>
                </a:solidFill>
              </a:rPr>
              <a:t>Unterstützt MongoDB, Redis </a:t>
            </a:r>
            <a:r>
              <a:rPr lang="en-US" sz="2000" dirty="0" err="1">
                <a:solidFill>
                  <a:srgbClr val="334155"/>
                </a:solidFill>
              </a:rPr>
              <a:t>oder</a:t>
            </a:r>
            <a:r>
              <a:rPr lang="en-US" sz="2000" dirty="0">
                <a:solidFill>
                  <a:srgbClr val="334155"/>
                </a:solidFill>
              </a:rPr>
              <a:t> PostgreSQL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Eigenschaften: </a:t>
            </a:r>
            <a:r>
              <a:rPr lang="en-US" sz="2000" dirty="0">
                <a:solidFill>
                  <a:srgbClr val="334155"/>
                </a:solidFill>
              </a:rPr>
              <a:t>Echtzeit-Interaktionen (WebSockets), modernes Design, APIs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Projektziele &amp; Testpyramide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Ziel: </a:t>
            </a:r>
            <a:r>
              <a:rPr lang="en-US" sz="2000" dirty="0" err="1">
                <a:solidFill>
                  <a:srgbClr val="334155"/>
                </a:solidFill>
              </a:rPr>
              <a:t>Konzeption</a:t>
            </a:r>
            <a:r>
              <a:rPr lang="en-US" sz="2000" dirty="0">
                <a:solidFill>
                  <a:srgbClr val="334155"/>
                </a:solidFill>
              </a:rPr>
              <a:t> und </a:t>
            </a:r>
            <a:r>
              <a:rPr lang="en-US" sz="2000" dirty="0" err="1">
                <a:solidFill>
                  <a:srgbClr val="334155"/>
                </a:solidFill>
              </a:rPr>
              <a:t>Implementierung</a:t>
            </a:r>
            <a:r>
              <a:rPr lang="en-US" sz="2000" dirty="0">
                <a:solidFill>
                  <a:srgbClr val="334155"/>
                </a:solidFill>
              </a:rPr>
              <a:t> </a:t>
            </a:r>
            <a:r>
              <a:rPr lang="en-US" sz="2000" dirty="0" err="1">
                <a:solidFill>
                  <a:srgbClr val="334155"/>
                </a:solidFill>
              </a:rPr>
              <a:t>einer</a:t>
            </a:r>
            <a:r>
              <a:rPr lang="en-US" sz="2000" dirty="0">
                <a:solidFill>
                  <a:srgbClr val="334155"/>
                </a:solidFill>
              </a:rPr>
              <a:t> </a:t>
            </a:r>
            <a:r>
              <a:rPr lang="en-US" sz="2000" dirty="0" err="1">
                <a:solidFill>
                  <a:srgbClr val="334155"/>
                </a:solidFill>
              </a:rPr>
              <a:t>umfassenden</a:t>
            </a:r>
            <a:r>
              <a:rPr lang="en-US" sz="2000" dirty="0">
                <a:solidFill>
                  <a:srgbClr val="334155"/>
                </a:solidFill>
              </a:rPr>
              <a:t> Test-Suite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 err="1">
                <a:solidFill>
                  <a:srgbClr val="1E293B"/>
                </a:solidFill>
              </a:rPr>
              <a:t>Vorgabe</a:t>
            </a:r>
            <a:r>
              <a:rPr lang="en-US" sz="2000" b="1" dirty="0">
                <a:solidFill>
                  <a:srgbClr val="1E293B"/>
                </a:solidFill>
              </a:rPr>
              <a:t> (2 </a:t>
            </a:r>
            <a:r>
              <a:rPr lang="en-US" sz="2000" b="1" dirty="0" err="1">
                <a:solidFill>
                  <a:srgbClr val="1E293B"/>
                </a:solidFill>
              </a:rPr>
              <a:t>Personen</a:t>
            </a:r>
            <a:r>
              <a:rPr lang="en-US" sz="2000" b="1" dirty="0">
                <a:solidFill>
                  <a:srgbClr val="1E293B"/>
                </a:solidFill>
              </a:rPr>
              <a:t>): </a:t>
            </a:r>
            <a:r>
              <a:rPr lang="en-US" sz="2000" dirty="0" err="1">
                <a:solidFill>
                  <a:srgbClr val="334155"/>
                </a:solidFill>
              </a:rPr>
              <a:t>Mindestens</a:t>
            </a:r>
            <a:r>
              <a:rPr lang="en-US" sz="2000" dirty="0">
                <a:solidFill>
                  <a:srgbClr val="334155"/>
                </a:solidFill>
              </a:rPr>
              <a:t> 22 Tests </a:t>
            </a:r>
            <a:r>
              <a:rPr lang="en-US" sz="2000" dirty="0" err="1">
                <a:solidFill>
                  <a:srgbClr val="334155"/>
                </a:solidFill>
              </a:rPr>
              <a:t>insgesamt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 err="1">
                <a:solidFill>
                  <a:srgbClr val="1E293B"/>
                </a:solidFill>
              </a:rPr>
              <a:t>Unsere</a:t>
            </a:r>
            <a:r>
              <a:rPr lang="en-US" sz="2000" b="1" dirty="0">
                <a:solidFill>
                  <a:srgbClr val="1E293B"/>
                </a:solidFill>
              </a:rPr>
              <a:t> </a:t>
            </a:r>
            <a:r>
              <a:rPr lang="en-US" sz="2000" b="1" dirty="0" err="1">
                <a:solidFill>
                  <a:srgbClr val="1E293B"/>
                </a:solidFill>
              </a:rPr>
              <a:t>Umsetzung</a:t>
            </a:r>
            <a:r>
              <a:rPr lang="en-US" sz="2000" b="1" dirty="0">
                <a:solidFill>
                  <a:srgbClr val="1E293B"/>
                </a:solidFill>
              </a:rPr>
              <a:t>:</a:t>
            </a:r>
          </a:p>
          <a:p>
            <a:pPr marL="800100" lvl="1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</a:rPr>
              <a:t>10 Unit Tests (Jest &amp; Mocha)</a:t>
            </a:r>
            <a:endParaRPr lang="en-US" sz="2000" dirty="0"/>
          </a:p>
          <a:p>
            <a:pPr marL="800100" lvl="1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</a:rPr>
              <a:t>6 Integration Tests (Mocha)</a:t>
            </a:r>
            <a:endParaRPr lang="en-US" sz="2000" dirty="0"/>
          </a:p>
          <a:p>
            <a:pPr marL="800100" lvl="1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</a:rPr>
              <a:t>4 System/E2E Tests (Playwright)</a:t>
            </a:r>
            <a:endParaRPr lang="en-US" sz="2000" dirty="0"/>
          </a:p>
          <a:p>
            <a:pPr marL="800100" lvl="1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</a:rPr>
              <a:t>3 Load Test </a:t>
            </a:r>
            <a:r>
              <a:rPr lang="en-US" sz="2000" dirty="0" err="1">
                <a:solidFill>
                  <a:srgbClr val="475569"/>
                </a:solidFill>
              </a:rPr>
              <a:t>Szenarien</a:t>
            </a:r>
            <a:r>
              <a:rPr lang="en-US" sz="2000" dirty="0">
                <a:solidFill>
                  <a:srgbClr val="475569"/>
                </a:solidFill>
              </a:rPr>
              <a:t> (k6)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Eingesetzte Werkzeuge &amp; Frameworks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900" b="1" dirty="0">
                <a:solidFill>
                  <a:srgbClr val="1E293B"/>
                </a:solidFill>
              </a:rPr>
              <a:t>Jest &amp; Mocha: </a:t>
            </a:r>
            <a:r>
              <a:rPr lang="en-US" sz="1900" dirty="0">
                <a:solidFill>
                  <a:srgbClr val="334155"/>
                </a:solidFill>
              </a:rPr>
              <a:t>Für Unit- und Integrationstests (etabliert, schnelles Feedback)</a:t>
            </a:r>
            <a:endParaRPr lang="en-US" sz="19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900" b="1" dirty="0">
                <a:solidFill>
                  <a:srgbClr val="1E293B"/>
                </a:solidFill>
              </a:rPr>
              <a:t>Playwright: </a:t>
            </a:r>
            <a:r>
              <a:rPr lang="en-US" sz="1900" dirty="0">
                <a:solidFill>
                  <a:srgbClr val="334155"/>
                </a:solidFill>
              </a:rPr>
              <a:t>Für System-/E2E-Tests (Zuverlässige Browser-Automatisierung für UI-Flows)</a:t>
            </a:r>
            <a:endParaRPr lang="en-US" sz="19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900" b="1" dirty="0">
                <a:solidFill>
                  <a:srgbClr val="1E293B"/>
                </a:solidFill>
              </a:rPr>
              <a:t>k6: </a:t>
            </a:r>
            <a:r>
              <a:rPr lang="en-US" sz="1900" dirty="0">
                <a:solidFill>
                  <a:srgbClr val="334155"/>
                </a:solidFill>
              </a:rPr>
              <a:t>Für Load Tests (Effiziente und ressourcenschonende Lasttests für APIs)</a:t>
            </a:r>
            <a:endParaRPr lang="en-US" sz="19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900" b="1" dirty="0">
                <a:solidFill>
                  <a:srgbClr val="1E293B"/>
                </a:solidFill>
              </a:rPr>
              <a:t>GitHub Actions: </a:t>
            </a:r>
            <a:r>
              <a:rPr lang="en-US" sz="1900" dirty="0">
                <a:solidFill>
                  <a:srgbClr val="334155"/>
                </a:solidFill>
              </a:rPr>
              <a:t>Für CI/CD </a:t>
            </a:r>
            <a:r>
              <a:rPr lang="en-US" sz="1900" dirty="0" err="1">
                <a:solidFill>
                  <a:srgbClr val="334155"/>
                </a:solidFill>
              </a:rPr>
              <a:t>Automatisierung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Unit &amp; Integration Tests (Das Fundament)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Was wurde getestet?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Unit: Isolierte Hilfsfunktionen (Slug-Generierung, Pagination, E-Mail-</a:t>
            </a:r>
            <a:r>
              <a:rPr lang="en-US" sz="1600" dirty="0" err="1">
                <a:solidFill>
                  <a:srgbClr val="334155"/>
                </a:solidFill>
              </a:rPr>
              <a:t>Validierung</a:t>
            </a:r>
            <a:r>
              <a:rPr lang="en-US" sz="1600" dirty="0">
                <a:solidFill>
                  <a:srgbClr val="334155"/>
                </a:solidFill>
              </a:rPr>
              <a:t>)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Integration: Datenbankinteraktionen (Kategorien erstellen, Topics </a:t>
            </a:r>
            <a:r>
              <a:rPr lang="en-US" sz="1600" dirty="0" err="1">
                <a:solidFill>
                  <a:srgbClr val="334155"/>
                </a:solidFill>
              </a:rPr>
              <a:t>posten</a:t>
            </a:r>
            <a:r>
              <a:rPr lang="en-US" sz="1600" dirty="0">
                <a:solidFill>
                  <a:srgbClr val="334155"/>
                </a:solidFill>
              </a:rPr>
              <a:t>)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 err="1">
                <a:solidFill>
                  <a:srgbClr val="1E293B"/>
                </a:solidFill>
              </a:rPr>
              <a:t>Warum</a:t>
            </a:r>
            <a:r>
              <a:rPr lang="en-US" sz="2000" b="1" dirty="0">
                <a:solidFill>
                  <a:srgbClr val="1E293B"/>
                </a:solidFill>
              </a:rPr>
              <a:t>? </a:t>
            </a:r>
            <a:r>
              <a:rPr lang="en-US" sz="2000" dirty="0" err="1">
                <a:solidFill>
                  <a:srgbClr val="334155"/>
                </a:solidFill>
              </a:rPr>
              <a:t>Sicherstellen</a:t>
            </a:r>
            <a:r>
              <a:rPr lang="en-US" sz="2000" dirty="0">
                <a:solidFill>
                  <a:srgbClr val="334155"/>
                </a:solidFill>
              </a:rPr>
              <a:t>, dass die grundlegende Business-Logik und die Datenbank </a:t>
            </a:r>
            <a:r>
              <a:rPr lang="en-US" sz="2000" dirty="0" err="1">
                <a:solidFill>
                  <a:srgbClr val="334155"/>
                </a:solidFill>
              </a:rPr>
              <a:t>korrekt</a:t>
            </a:r>
            <a:r>
              <a:rPr lang="en-US" sz="2000" dirty="0">
                <a:solidFill>
                  <a:srgbClr val="334155"/>
                </a:solidFill>
              </a:rPr>
              <a:t> </a:t>
            </a:r>
            <a:r>
              <a:rPr lang="en-US" sz="2000" dirty="0" err="1">
                <a:solidFill>
                  <a:srgbClr val="334155"/>
                </a:solidFill>
              </a:rPr>
              <a:t>funktionieren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Wie? </a:t>
            </a:r>
            <a:r>
              <a:rPr lang="en-US" sz="2000" dirty="0">
                <a:solidFill>
                  <a:srgbClr val="334155"/>
                </a:solidFill>
              </a:rPr>
              <a:t>Mocks für Unit Tests. Eine separate MongoDB (nodebb_test) für </a:t>
            </a:r>
            <a:r>
              <a:rPr lang="en-US" sz="2000" dirty="0" err="1">
                <a:solidFill>
                  <a:srgbClr val="334155"/>
                </a:solidFill>
              </a:rPr>
              <a:t>Integrationstests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&amp; E2E Tests (Benutzerperspektive)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Was wurde getestet?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Öffentliche Registrierung (Pflichtfelder </a:t>
            </a:r>
            <a:r>
              <a:rPr lang="en-US" sz="1600" dirty="0" err="1">
                <a:solidFill>
                  <a:srgbClr val="334155"/>
                </a:solidFill>
              </a:rPr>
              <a:t>überprüfen</a:t>
            </a:r>
            <a:r>
              <a:rPr lang="en-US" sz="1600" dirty="0">
                <a:solidFill>
                  <a:srgbClr val="334155"/>
                </a:solidFill>
              </a:rPr>
              <a:t>)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Login-Prozess mit absichtlich </a:t>
            </a:r>
            <a:r>
              <a:rPr lang="en-US" sz="1600" dirty="0" err="1">
                <a:solidFill>
                  <a:srgbClr val="334155"/>
                </a:solidFill>
              </a:rPr>
              <a:t>falschen</a:t>
            </a:r>
            <a:r>
              <a:rPr lang="en-US" sz="1600" dirty="0">
                <a:solidFill>
                  <a:srgbClr val="334155"/>
                </a:solidFill>
              </a:rPr>
              <a:t> </a:t>
            </a:r>
            <a:r>
              <a:rPr lang="en-US" sz="1600" dirty="0" err="1">
                <a:solidFill>
                  <a:srgbClr val="334155"/>
                </a:solidFill>
              </a:rPr>
              <a:t>Zugangsdaten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Validierung der öffentlichen Config API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 err="1">
                <a:solidFill>
                  <a:srgbClr val="1E293B"/>
                </a:solidFill>
              </a:rPr>
              <a:t>Warum</a:t>
            </a:r>
            <a:r>
              <a:rPr lang="en-US" sz="2000" b="1" dirty="0">
                <a:solidFill>
                  <a:srgbClr val="1E293B"/>
                </a:solidFill>
              </a:rPr>
              <a:t>? </a:t>
            </a:r>
            <a:r>
              <a:rPr lang="en-US" sz="2000" dirty="0">
                <a:solidFill>
                  <a:srgbClr val="334155"/>
                </a:solidFill>
              </a:rPr>
              <a:t>UI-</a:t>
            </a:r>
            <a:r>
              <a:rPr lang="en-US" sz="2000" dirty="0" err="1">
                <a:solidFill>
                  <a:srgbClr val="334155"/>
                </a:solidFill>
              </a:rPr>
              <a:t>Abläufe</a:t>
            </a:r>
            <a:r>
              <a:rPr lang="en-US" sz="2000" dirty="0">
                <a:solidFill>
                  <a:srgbClr val="334155"/>
                </a:solidFill>
              </a:rPr>
              <a:t> müssen aus Endanwendersicht </a:t>
            </a:r>
            <a:r>
              <a:rPr lang="en-US" sz="2000" dirty="0" err="1">
                <a:solidFill>
                  <a:srgbClr val="334155"/>
                </a:solidFill>
              </a:rPr>
              <a:t>fehlerfrei</a:t>
            </a:r>
            <a:r>
              <a:rPr lang="en-US" sz="2000" dirty="0">
                <a:solidFill>
                  <a:srgbClr val="334155"/>
                </a:solidFill>
              </a:rPr>
              <a:t> </a:t>
            </a:r>
            <a:r>
              <a:rPr lang="en-US" sz="2000" dirty="0" err="1">
                <a:solidFill>
                  <a:srgbClr val="334155"/>
                </a:solidFill>
              </a:rPr>
              <a:t>funktionieren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Wie? </a:t>
            </a:r>
            <a:r>
              <a:rPr lang="en-US" sz="2000" dirty="0">
                <a:solidFill>
                  <a:srgbClr val="334155"/>
                </a:solidFill>
              </a:rPr>
              <a:t>Playwright steuert einen Chromium-Browser über die </a:t>
            </a:r>
            <a:r>
              <a:rPr lang="en-US" sz="2000" dirty="0" err="1">
                <a:solidFill>
                  <a:srgbClr val="334155"/>
                </a:solidFill>
              </a:rPr>
              <a:t>laufende</a:t>
            </a:r>
            <a:r>
              <a:rPr lang="en-US" sz="2000" dirty="0">
                <a:solidFill>
                  <a:srgbClr val="334155"/>
                </a:solidFill>
              </a:rPr>
              <a:t> NodeBB-Instanz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Last- &amp; Performance-Tests (k6)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Was wurde getestet?</a:t>
            </a:r>
            <a:r>
              <a:rPr lang="en-US" sz="2000" dirty="0">
                <a:solidFill>
                  <a:srgbClr val="334155"/>
                </a:solidFill>
              </a:rPr>
              <a:t> Drei Kern-Szenarien: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1. Public Forum Browsing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2. Config API Reads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3. Invalid Login Attempts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 err="1">
                <a:solidFill>
                  <a:srgbClr val="1E293B"/>
                </a:solidFill>
              </a:rPr>
              <a:t>Warum</a:t>
            </a:r>
            <a:r>
              <a:rPr lang="en-US" sz="2000" b="1" dirty="0">
                <a:solidFill>
                  <a:srgbClr val="1E293B"/>
                </a:solidFill>
              </a:rPr>
              <a:t>? </a:t>
            </a:r>
            <a:r>
              <a:rPr lang="en-US" sz="2000" dirty="0" err="1">
                <a:solidFill>
                  <a:srgbClr val="334155"/>
                </a:solidFill>
              </a:rPr>
              <a:t>Überprüfen</a:t>
            </a:r>
            <a:r>
              <a:rPr lang="en-US" sz="2000" dirty="0">
                <a:solidFill>
                  <a:srgbClr val="334155"/>
                </a:solidFill>
              </a:rPr>
              <a:t>, ob NodeBB unter Last stabil bleibt und Fehl-Logins </a:t>
            </a:r>
            <a:r>
              <a:rPr lang="en-US" sz="2000" dirty="0" err="1">
                <a:solidFill>
                  <a:srgbClr val="334155"/>
                </a:solidFill>
              </a:rPr>
              <a:t>sauber</a:t>
            </a:r>
            <a:r>
              <a:rPr lang="en-US" sz="2000" dirty="0">
                <a:solidFill>
                  <a:srgbClr val="334155"/>
                </a:solidFill>
              </a:rPr>
              <a:t> </a:t>
            </a:r>
            <a:r>
              <a:rPr lang="en-US" sz="2000" dirty="0" err="1">
                <a:solidFill>
                  <a:srgbClr val="334155"/>
                </a:solidFill>
              </a:rPr>
              <a:t>abfängt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Wie? </a:t>
            </a:r>
            <a:r>
              <a:rPr lang="en-US" sz="2000" dirty="0">
                <a:solidFill>
                  <a:srgbClr val="334155"/>
                </a:solidFill>
              </a:rPr>
              <a:t>Simulation paralleler Virtueller User (VUs) über einen </a:t>
            </a:r>
            <a:r>
              <a:rPr lang="en-US" sz="2000" dirty="0" err="1">
                <a:solidFill>
                  <a:srgbClr val="334155"/>
                </a:solidFill>
              </a:rPr>
              <a:t>definierten</a:t>
            </a:r>
            <a:r>
              <a:rPr lang="en-US" sz="2000" dirty="0">
                <a:solidFill>
                  <a:srgbClr val="334155"/>
                </a:solidFill>
              </a:rPr>
              <a:t> </a:t>
            </a:r>
            <a:r>
              <a:rPr lang="en-US" sz="2000" dirty="0" err="1">
                <a:solidFill>
                  <a:srgbClr val="334155"/>
                </a:solidFill>
              </a:rPr>
              <a:t>Zeitraum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Testergebnisse &amp; Analyse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042263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Ergebnisse (k6 Load Test):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100% Erfolgsrate bei </a:t>
            </a:r>
            <a:r>
              <a:rPr lang="en-US" sz="1600" dirty="0" err="1">
                <a:solidFill>
                  <a:srgbClr val="334155"/>
                </a:solidFill>
              </a:rPr>
              <a:t>allen</a:t>
            </a:r>
            <a:r>
              <a:rPr lang="en-US" sz="1600" dirty="0">
                <a:solidFill>
                  <a:srgbClr val="334155"/>
                </a:solidFill>
              </a:rPr>
              <a:t> </a:t>
            </a:r>
            <a:r>
              <a:rPr lang="en-US" sz="1600" dirty="0" err="1">
                <a:solidFill>
                  <a:srgbClr val="334155"/>
                </a:solidFill>
              </a:rPr>
              <a:t>Anfragen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Alle Schwellenwerte (Thresholds) wurden </a:t>
            </a:r>
            <a:r>
              <a:rPr lang="en-US" sz="1600" dirty="0" err="1">
                <a:solidFill>
                  <a:srgbClr val="334155"/>
                </a:solidFill>
              </a:rPr>
              <a:t>strikt</a:t>
            </a:r>
            <a:r>
              <a:rPr lang="en-US" sz="1600" dirty="0">
                <a:solidFill>
                  <a:srgbClr val="334155"/>
                </a:solidFill>
              </a:rPr>
              <a:t> </a:t>
            </a:r>
            <a:r>
              <a:rPr lang="en-US" sz="1600" dirty="0" err="1">
                <a:solidFill>
                  <a:srgbClr val="334155"/>
                </a:solidFill>
              </a:rPr>
              <a:t>eingehalten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Analyse: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API ist extrem schnell (p95 ~40ms)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Generelle HTTP-Antwortzeiten unter Last liegen bei ~104ms (&lt; 1000ms)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Sehr performant und robust gegenüber </a:t>
            </a:r>
            <a:r>
              <a:rPr lang="en-US" sz="1600" dirty="0" err="1">
                <a:solidFill>
                  <a:srgbClr val="334155"/>
                </a:solidFill>
              </a:rPr>
              <a:t>ungültigen</a:t>
            </a:r>
            <a:r>
              <a:rPr lang="en-US" sz="1600" dirty="0">
                <a:solidFill>
                  <a:srgbClr val="334155"/>
                </a:solidFill>
              </a:rPr>
              <a:t> Login-</a:t>
            </a:r>
            <a:r>
              <a:rPr lang="en-US" sz="1600" dirty="0" err="1">
                <a:solidFill>
                  <a:srgbClr val="334155"/>
                </a:solidFill>
              </a:rPr>
              <a:t>Versuchen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10E6086-66E3-D360-BDF1-968043B93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050" y="1648333"/>
            <a:ext cx="3193870" cy="20835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Test Isolation &amp; CI/CD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Test Isolation: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Strikt getrennte Datenbanken (nodebb_test lokal, ci_test in GitHub Actions)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So werden niemals versehentlich </a:t>
            </a:r>
            <a:r>
              <a:rPr lang="en-US" sz="1600" dirty="0" err="1">
                <a:solidFill>
                  <a:srgbClr val="334155"/>
                </a:solidFill>
              </a:rPr>
              <a:t>Produktivdaten</a:t>
            </a:r>
            <a:r>
              <a:rPr lang="en-US" sz="1600" dirty="0">
                <a:solidFill>
                  <a:srgbClr val="334155"/>
                </a:solidFill>
              </a:rPr>
              <a:t> </a:t>
            </a:r>
            <a:r>
              <a:rPr lang="en-US" sz="1600" dirty="0" err="1">
                <a:solidFill>
                  <a:srgbClr val="334155"/>
                </a:solidFill>
              </a:rPr>
              <a:t>berührt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</a:rPr>
              <a:t>CI/CD Pipeline: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Automatisierte Ausführung aller Tests bei jedem Push/Pull-Request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Startet im Hintergrund temporäre MongoDB/Redis-Container</a:t>
            </a:r>
            <a:endParaRPr lang="en-US" sz="2000" dirty="0"/>
          </a:p>
          <a:p>
            <a:pPr marL="685800" lvl="1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Führt eine verkürzte Smoke-Test-Version des Load Tests </a:t>
            </a:r>
            <a:r>
              <a:rPr lang="en-US" sz="1600" dirty="0" err="1">
                <a:solidFill>
                  <a:srgbClr val="334155"/>
                </a:solidFill>
              </a:rPr>
              <a:t>aus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</a:rPr>
              <a:t>Fazit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342900">
              <a:lnSpc>
                <a:spcPts val="2500"/>
              </a:lnSpc>
              <a:buSzPct val="100000"/>
              <a:buChar char="•"/>
            </a:pPr>
            <a:r>
              <a:rPr lang="en-US" sz="1700" dirty="0" err="1">
                <a:solidFill>
                  <a:srgbClr val="334155"/>
                </a:solidFill>
              </a:rPr>
              <a:t>Erweiterung</a:t>
            </a:r>
            <a:r>
              <a:rPr lang="en-US" sz="1700" dirty="0">
                <a:solidFill>
                  <a:srgbClr val="334155"/>
                </a:solidFill>
              </a:rPr>
              <a:t> der Test-Suite war </a:t>
            </a:r>
            <a:r>
              <a:rPr lang="en-US" sz="1700" dirty="0" err="1">
                <a:solidFill>
                  <a:srgbClr val="334155"/>
                </a:solidFill>
              </a:rPr>
              <a:t>sehr</a:t>
            </a:r>
            <a:r>
              <a:rPr lang="en-US" sz="1700" dirty="0">
                <a:solidFill>
                  <a:srgbClr val="334155"/>
                </a:solidFill>
              </a:rPr>
              <a:t> </a:t>
            </a:r>
            <a:r>
              <a:rPr lang="en-US" sz="1700" dirty="0" err="1">
                <a:solidFill>
                  <a:srgbClr val="334155"/>
                </a:solidFill>
              </a:rPr>
              <a:t>erfolgreich</a:t>
            </a:r>
            <a:endParaRPr lang="en-US" sz="1700" dirty="0"/>
          </a:p>
          <a:p>
            <a:pPr marL="228600" indent="-342900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Gelernte Konzepte wurden auf ein komplexes Open-Source-Projekt </a:t>
            </a:r>
            <a:r>
              <a:rPr lang="en-US" sz="1700" dirty="0" err="1">
                <a:solidFill>
                  <a:srgbClr val="334155"/>
                </a:solidFill>
              </a:rPr>
              <a:t>angewendet</a:t>
            </a:r>
            <a:endParaRPr lang="en-US" sz="1700" dirty="0"/>
          </a:p>
          <a:p>
            <a:pPr marL="228600" indent="-342900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NodeBB ist dank der API und Struktur </a:t>
            </a:r>
            <a:r>
              <a:rPr lang="en-US" sz="1700" dirty="0" err="1">
                <a:solidFill>
                  <a:srgbClr val="334155"/>
                </a:solidFill>
              </a:rPr>
              <a:t>eine</a:t>
            </a:r>
            <a:r>
              <a:rPr lang="en-US" sz="1700" dirty="0">
                <a:solidFill>
                  <a:srgbClr val="334155"/>
                </a:solidFill>
              </a:rPr>
              <a:t> </a:t>
            </a:r>
            <a:r>
              <a:rPr lang="en-US" sz="1700" dirty="0" err="1">
                <a:solidFill>
                  <a:srgbClr val="334155"/>
                </a:solidFill>
              </a:rPr>
              <a:t>robuste</a:t>
            </a:r>
            <a:r>
              <a:rPr lang="en-US" sz="1700" dirty="0">
                <a:solidFill>
                  <a:srgbClr val="334155"/>
                </a:solidFill>
              </a:rPr>
              <a:t> </a:t>
            </a:r>
            <a:r>
              <a:rPr lang="en-US" sz="1700" dirty="0" err="1">
                <a:solidFill>
                  <a:srgbClr val="334155"/>
                </a:solidFill>
              </a:rPr>
              <a:t>Anwendung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Office PowerPoint</Application>
  <PresentationFormat>Bildschirmpräsentation (16:9)</PresentationFormat>
  <Paragraphs>81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Six Amadin - s2410307087</cp:lastModifiedBy>
  <cp:revision>5</cp:revision>
  <dcterms:created xsi:type="dcterms:W3CDTF">2026-06-24T19:41:22Z</dcterms:created>
  <dcterms:modified xsi:type="dcterms:W3CDTF">2026-06-24T21:56:59Z</dcterms:modified>
</cp:coreProperties>
</file>